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603461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4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06466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4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5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584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70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2188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2634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5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DE2DD2A7-6D8D-4008-8815-EB605A0ABC60}" type="datetimeFigureOut">
              <a:rPr lang="en-IN" smtClean="0"/>
              <a:t>28-03-2020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B8BA1E8-2114-45DF-9B22-8DF2523AE96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6751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368D2-A5EA-4518-82FA-C773D503B9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Baskerville Old Face" panose="02020602080505020303" pitchFamily="18" charset="0"/>
              </a:rPr>
              <a:t>SHORTEST COMMON </a:t>
            </a:r>
            <a:br>
              <a:rPr lang="en-US" sz="4000" dirty="0">
                <a:latin typeface="Baskerville Old Face" panose="02020602080505020303" pitchFamily="18" charset="0"/>
              </a:rPr>
            </a:br>
            <a:r>
              <a:rPr lang="en-US" sz="4000" dirty="0">
                <a:latin typeface="Baskerville Old Face" panose="02020602080505020303" pitchFamily="18" charset="0"/>
              </a:rPr>
              <a:t>SUPERSEQUENCE</a:t>
            </a:r>
            <a:endParaRPr lang="en-IN" sz="4000" dirty="0">
              <a:latin typeface="Baskerville Old Face" panose="020206020805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6EEE9-F22F-4692-9725-5E0298FD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526" y="3956279"/>
            <a:ext cx="2817091" cy="1677903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Baskerville Old Face" panose="02020602080505020303" pitchFamily="18" charset="0"/>
              </a:rPr>
              <a:t>Tanvi </a:t>
            </a:r>
            <a:r>
              <a:rPr lang="en-US" sz="1800" dirty="0" err="1">
                <a:latin typeface="Baskerville Old Face" panose="02020602080505020303" pitchFamily="18" charset="0"/>
              </a:rPr>
              <a:t>Chalisgaonkar</a:t>
            </a:r>
            <a:endParaRPr lang="en-US" sz="1800" dirty="0">
              <a:latin typeface="Baskerville Old Face" panose="02020602080505020303" pitchFamily="18" charset="0"/>
            </a:endParaRPr>
          </a:p>
          <a:p>
            <a:pPr algn="l"/>
            <a:r>
              <a:rPr lang="en-US" sz="1800" dirty="0">
                <a:latin typeface="Baskerville Old Face" panose="02020602080505020303" pitchFamily="18" charset="0"/>
              </a:rPr>
              <a:t>Roll no. : 187943</a:t>
            </a:r>
          </a:p>
          <a:p>
            <a:pPr algn="l"/>
            <a:r>
              <a:rPr lang="en-US" sz="1800" dirty="0">
                <a:latin typeface="Baskerville Old Face" panose="02020602080505020303" pitchFamily="18" charset="0"/>
              </a:rPr>
              <a:t>Reg no. : MC18106</a:t>
            </a:r>
          </a:p>
          <a:p>
            <a:pPr algn="l"/>
            <a:r>
              <a:rPr lang="en-US" sz="1800" dirty="0">
                <a:latin typeface="Baskerville Old Face" panose="02020602080505020303" pitchFamily="18" charset="0"/>
              </a:rPr>
              <a:t>M.C.A {II year (IV </a:t>
            </a:r>
            <a:r>
              <a:rPr lang="en-US" sz="1800" dirty="0" err="1">
                <a:latin typeface="Baskerville Old Face" panose="02020602080505020303" pitchFamily="18" charset="0"/>
              </a:rPr>
              <a:t>sem</a:t>
            </a:r>
            <a:r>
              <a:rPr lang="en-US" sz="1800" dirty="0">
                <a:latin typeface="Baskerville Old Face" panose="02020602080505020303" pitchFamily="18" charset="0"/>
              </a:rPr>
              <a:t>)}</a:t>
            </a:r>
          </a:p>
          <a:p>
            <a:pPr algn="l"/>
            <a:r>
              <a:rPr lang="en-US" sz="1800" dirty="0">
                <a:latin typeface="Baskerville Old Face" panose="02020602080505020303" pitchFamily="18" charset="0"/>
              </a:rPr>
              <a:t>AAD Minor II</a:t>
            </a:r>
            <a:endParaRPr lang="en-IN" sz="18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76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F872A-1F8D-432B-BBBE-031157490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233" y="690608"/>
            <a:ext cx="9860893" cy="547678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Definition:-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The SHORTEST COMMON SUPERSEQUENCE of two sequences </a:t>
            </a:r>
            <a:r>
              <a:rPr lang="en-US" b="1" dirty="0">
                <a:latin typeface="Baskerville Old Face" panose="02020602080505020303" pitchFamily="18" charset="0"/>
              </a:rPr>
              <a:t>X</a:t>
            </a:r>
            <a:r>
              <a:rPr lang="en-US" dirty="0">
                <a:latin typeface="Baskerville Old Face" panose="02020602080505020303" pitchFamily="18" charset="0"/>
              </a:rPr>
              <a:t> and </a:t>
            </a:r>
            <a:r>
              <a:rPr lang="en-US" b="1" dirty="0">
                <a:latin typeface="Baskerville Old Face" panose="02020602080505020303" pitchFamily="18" charset="0"/>
              </a:rPr>
              <a:t>Y</a:t>
            </a:r>
            <a:r>
              <a:rPr lang="en-US" dirty="0">
                <a:latin typeface="Baskerville Old Face" panose="02020602080505020303" pitchFamily="18" charset="0"/>
              </a:rPr>
              <a:t> is the shortest sequence which has  </a:t>
            </a:r>
            <a:r>
              <a:rPr lang="en-US" b="1" dirty="0">
                <a:latin typeface="Baskerville Old Face" panose="02020602080505020303" pitchFamily="18" charset="0"/>
              </a:rPr>
              <a:t>X</a:t>
            </a:r>
            <a:r>
              <a:rPr lang="en-US" dirty="0">
                <a:latin typeface="Baskerville Old Face" panose="02020602080505020303" pitchFamily="18" charset="0"/>
              </a:rPr>
              <a:t> and  </a:t>
            </a:r>
            <a:r>
              <a:rPr lang="en-US" b="1" dirty="0">
                <a:latin typeface="Baskerville Old Face" panose="02020602080505020303" pitchFamily="18" charset="0"/>
              </a:rPr>
              <a:t>Y</a:t>
            </a:r>
            <a:r>
              <a:rPr lang="en-US" dirty="0">
                <a:latin typeface="Baskerville Old Face" panose="02020602080505020303" pitchFamily="18" charset="0"/>
              </a:rPr>
              <a:t>  as  subsequences.</a:t>
            </a:r>
          </a:p>
          <a:p>
            <a:pPr mar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Problem Statement:-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Given two strings str1, str2 . Write an algorithm to find shortest string which contains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both str1,str2 as substrings.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Input:   Two  sequences X and Y.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Output:	Length of Shortest common super sequence of X and Y.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Example:  Let  X=“</a:t>
            </a:r>
            <a:r>
              <a:rPr lang="en-US" dirty="0" err="1">
                <a:latin typeface="Baskerville Old Face" panose="02020602080505020303" pitchFamily="18" charset="0"/>
              </a:rPr>
              <a:t>abc</a:t>
            </a:r>
            <a:r>
              <a:rPr lang="en-US" dirty="0">
                <a:latin typeface="Baskerville Old Face" panose="02020602080505020303" pitchFamily="18" charset="0"/>
              </a:rPr>
              <a:t>” and Y=“</a:t>
            </a:r>
            <a:r>
              <a:rPr lang="en-US" dirty="0" err="1">
                <a:latin typeface="Baskerville Old Face" panose="02020602080505020303" pitchFamily="18" charset="0"/>
              </a:rPr>
              <a:t>abb</a:t>
            </a:r>
            <a:r>
              <a:rPr lang="en-US" dirty="0">
                <a:latin typeface="Baskerville Old Face" panose="02020602080505020303" pitchFamily="18" charset="0"/>
              </a:rPr>
              <a:t>” . Then shortest common subsequence for X and 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	are “</a:t>
            </a:r>
            <a:r>
              <a:rPr lang="en-US" dirty="0" err="1">
                <a:latin typeface="Baskerville Old Face" panose="02020602080505020303" pitchFamily="18" charset="0"/>
              </a:rPr>
              <a:t>abbc</a:t>
            </a:r>
            <a:r>
              <a:rPr lang="en-US" dirty="0">
                <a:latin typeface="Baskerville Old Face" panose="02020602080505020303" pitchFamily="18" charset="0"/>
              </a:rPr>
              <a:t>” and “</a:t>
            </a:r>
            <a:r>
              <a:rPr lang="en-US" dirty="0" err="1">
                <a:latin typeface="Baskerville Old Face" panose="02020602080505020303" pitchFamily="18" charset="0"/>
              </a:rPr>
              <a:t>abcb</a:t>
            </a:r>
            <a:r>
              <a:rPr lang="en-US" dirty="0">
                <a:latin typeface="Baskerville Old Face" panose="02020602080505020303" pitchFamily="18" charset="0"/>
              </a:rPr>
              <a:t>”, which have length =4.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 defTabSz="908050">
              <a:buNone/>
            </a:pPr>
            <a:endParaRPr lang="en-US" sz="2800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endParaRPr lang="en-IN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51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0D0AF-FCCC-4DFC-9079-BA6A5C5DA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34109"/>
            <a:ext cx="9601200" cy="5708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Recursive Approach:-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Let X=“</a:t>
            </a:r>
            <a:r>
              <a:rPr lang="en-IN" sz="2400" dirty="0" err="1">
                <a:latin typeface="Baskerville Old Face" panose="02020602080505020303" pitchFamily="18" charset="0"/>
              </a:rPr>
              <a:t>abc</a:t>
            </a:r>
            <a:r>
              <a:rPr lang="en-IN" sz="2400" dirty="0">
                <a:latin typeface="Baskerville Old Face" panose="02020602080505020303" pitchFamily="18" charset="0"/>
              </a:rPr>
              <a:t>” and Y=“</a:t>
            </a:r>
            <a:r>
              <a:rPr lang="en-IN" sz="2400" dirty="0" err="1">
                <a:latin typeface="Baskerville Old Face" panose="02020602080505020303" pitchFamily="18" charset="0"/>
              </a:rPr>
              <a:t>abb</a:t>
            </a:r>
            <a:r>
              <a:rPr lang="en-IN" sz="2400" dirty="0">
                <a:latin typeface="Baskerville Old Face" panose="02020602080505020303" pitchFamily="18" charset="0"/>
              </a:rPr>
              <a:t>” be two string.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m = length of string X.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n = length of string Y.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Base Case:  If any of string is of length 0 then length of shortest common 	super sequence is length of the another string. 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if(m=0) then return n;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if(n=0) then return m;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Recursive Case: If </a:t>
            </a:r>
            <a:r>
              <a:rPr lang="en-IN" sz="2400" dirty="0" err="1">
                <a:latin typeface="Baskerville Old Face" panose="02020602080505020303" pitchFamily="18" charset="0"/>
              </a:rPr>
              <a:t>i</a:t>
            </a:r>
            <a:r>
              <a:rPr lang="en-IN" sz="2400" dirty="0">
                <a:latin typeface="Baskerville Old Face" panose="02020602080505020303" pitchFamily="18" charset="0"/>
              </a:rPr>
              <a:t> </a:t>
            </a:r>
            <a:r>
              <a:rPr lang="en-IN" sz="2400" dirty="0" err="1">
                <a:latin typeface="Baskerville Old Face" panose="02020602080505020303" pitchFamily="18" charset="0"/>
              </a:rPr>
              <a:t>th</a:t>
            </a:r>
            <a:r>
              <a:rPr lang="en-IN" sz="2400" dirty="0">
                <a:latin typeface="Baskerville Old Face" panose="02020602080505020303" pitchFamily="18" charset="0"/>
              </a:rPr>
              <a:t> character is same then add 1 to solution and make a 	recursive call for m-1 and n-1.</a:t>
            </a:r>
          </a:p>
          <a:p>
            <a:pPr marL="0" indent="0">
              <a:buNone/>
            </a:pPr>
            <a:r>
              <a:rPr lang="en-IN" sz="2400" dirty="0">
                <a:latin typeface="Baskerville Old Face" panose="02020602080505020303" pitchFamily="18" charset="0"/>
              </a:rPr>
              <a:t>	else add 1 to the minimum value from recursive call for (m-1,n) and 	(m,n-1).</a:t>
            </a:r>
          </a:p>
        </p:txBody>
      </p:sp>
    </p:spTree>
    <p:extLst>
      <p:ext uri="{BB962C8B-B14F-4D97-AF65-F5344CB8AC3E}">
        <p14:creationId xmlns:p14="http://schemas.microsoft.com/office/powerpoint/2010/main" val="294382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41187-EC57-438C-AFFA-289C4F77E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98764"/>
            <a:ext cx="9601200" cy="5368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Pseudo Code: -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	Let </a:t>
            </a:r>
            <a:r>
              <a:rPr lang="en-US" altLang="en-US" dirty="0">
                <a:latin typeface="Baskerville Old Face" panose="02020602080505020303" pitchFamily="18" charset="0"/>
              </a:rPr>
              <a:t>X[0..m - 1] and Y[0..n - 1] be two strings and m and n be respective lengths. 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if (m == 0) return n;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if (n == 0) return m;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// If last characters are same, then add 1 to result and 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// recur for X[] Y[]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if (X[m - 1] == Y[n - 1]) return 1 + SCS(X, Y, m - 1, n - 1);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// Else find shortest of following two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// a) Remove last character from X and recur 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// b) Remove last character from Y and recur</a:t>
            </a:r>
          </a:p>
          <a:p>
            <a:pPr marL="0" indent="0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 else return 1 + min( SCS(X, Y, m - 1, n), SCS(X, Y, m, n - 1) ); </a:t>
            </a:r>
          </a:p>
          <a:p>
            <a:pPr mar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DA4BE5-7F51-4FAB-828B-0FA1079DE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1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A1A4-E58A-4293-85F5-D4DC1BB94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44945"/>
            <a:ext cx="9601200" cy="58189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SUB - STRUCTURE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2DBE3-6C48-4E5A-84D7-65545CBDA4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809" t="22331" r="23622" b="6657"/>
          <a:stretch/>
        </p:blipFill>
        <p:spPr>
          <a:xfrm>
            <a:off x="2937163" y="1487054"/>
            <a:ext cx="7305963" cy="47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5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709F4-C035-45C8-86B4-15BE11AED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24873"/>
            <a:ext cx="9601200" cy="580967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From the above structure we can easily see the  overlapping  sub problems such as: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	(“a” , “a”)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	(“ab” , “a”)  ………… etc.</a:t>
            </a:r>
          </a:p>
          <a:p>
            <a:pPr marL="0" indent="0"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So Recurrence relation is: 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	F( X, Y, m, n) =    1 +  min( F(X,Y,m-1,n) ,F(X,Y,m,n-1) )    if  m&gt;0 and n&gt;0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			0 				         else where</a:t>
            </a:r>
          </a:p>
          <a:p>
            <a:pPr marL="0" indent="0">
              <a:buNone/>
            </a:pPr>
            <a:endParaRPr lang="en-IN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Time Complexity : 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	T(n) =  </a:t>
            </a:r>
            <a:r>
              <a:rPr lang="en-IN" dirty="0"/>
              <a:t>O(2</a:t>
            </a:r>
            <a:r>
              <a:rPr lang="en-IN" baseline="30000" dirty="0"/>
              <a:t>min(m, n)</a:t>
            </a:r>
            <a:r>
              <a:rPr lang="en-IN" dirty="0"/>
              <a:t>). 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8D1B9011-EACE-4DCC-A81C-EC1A702EB840}"/>
              </a:ext>
            </a:extLst>
          </p:cNvPr>
          <p:cNvSpPr/>
          <p:nvPr/>
        </p:nvSpPr>
        <p:spPr>
          <a:xfrm>
            <a:off x="3943926" y="2641600"/>
            <a:ext cx="286328" cy="93287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2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36DBF-0FB7-41D0-89CA-723687C91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61818"/>
            <a:ext cx="9601200" cy="57819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DYNAMIC PROGRAMMING APPROACH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Since, recursive approach gives exponential complexity and have optimal substructure 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of problem ,So we can apply </a:t>
            </a:r>
            <a:r>
              <a:rPr lang="en-IN" dirty="0" err="1">
                <a:latin typeface="Baskerville Old Face" panose="02020602080505020303" pitchFamily="18" charset="0"/>
              </a:rPr>
              <a:t>dp</a:t>
            </a:r>
            <a:r>
              <a:rPr lang="en-IN" dirty="0">
                <a:latin typeface="Baskerville Old Face" panose="02020602080505020303" pitchFamily="18" charset="0"/>
              </a:rPr>
              <a:t> to </a:t>
            </a:r>
            <a:r>
              <a:rPr lang="en-IN" dirty="0" err="1">
                <a:latin typeface="Baskerville Old Face" panose="02020602080505020303" pitchFamily="18" charset="0"/>
              </a:rPr>
              <a:t>memoize</a:t>
            </a:r>
            <a:r>
              <a:rPr lang="en-IN" dirty="0">
                <a:latin typeface="Baskerville Old Face" panose="02020602080505020303" pitchFamily="18" charset="0"/>
              </a:rPr>
              <a:t> the result. </a:t>
            </a:r>
          </a:p>
          <a:p>
            <a:pPr marL="0" indent="0">
              <a:buNone/>
            </a:pPr>
            <a:endParaRPr lang="en-IN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Let </a:t>
            </a:r>
            <a:r>
              <a:rPr lang="en-IN" dirty="0" err="1">
                <a:latin typeface="Baskerville Old Face" panose="02020602080505020303" pitchFamily="18" charset="0"/>
              </a:rPr>
              <a:t>dp</a:t>
            </a:r>
            <a:r>
              <a:rPr lang="en-IN" dirty="0">
                <a:latin typeface="Baskerville Old Face" panose="02020602080505020303" pitchFamily="18" charset="0"/>
              </a:rPr>
              <a:t>[m][n] be an 2-D array: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	then </a:t>
            </a:r>
            <a:r>
              <a:rPr lang="en-IN" dirty="0" err="1">
                <a:latin typeface="Baskerville Old Face" panose="02020602080505020303" pitchFamily="18" charset="0"/>
              </a:rPr>
              <a:t>memoization</a:t>
            </a:r>
            <a:r>
              <a:rPr lang="en-IN" dirty="0">
                <a:latin typeface="Baskerville Old Face" panose="02020602080505020303" pitchFamily="18" charset="0"/>
              </a:rPr>
              <a:t> will take place as follows:</a:t>
            </a:r>
          </a:p>
          <a:p>
            <a:pPr marL="0" indent="0">
              <a:buNone/>
            </a:pPr>
            <a:r>
              <a:rPr lang="en-IN" dirty="0">
                <a:latin typeface="Baskerville Old Face" panose="02020602080505020303" pitchFamily="18" charset="0"/>
              </a:rPr>
              <a:t>	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93DC21D-10F0-41A7-84AA-C8898C669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15784"/>
              </p:ext>
            </p:extLst>
          </p:nvPr>
        </p:nvGraphicFramePr>
        <p:xfrm>
          <a:off x="2037542" y="3352800"/>
          <a:ext cx="4544290" cy="3025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8858">
                  <a:extLst>
                    <a:ext uri="{9D8B030D-6E8A-4147-A177-3AD203B41FA5}">
                      <a16:colId xmlns:a16="http://schemas.microsoft.com/office/drawing/2014/main" val="842139907"/>
                    </a:ext>
                  </a:extLst>
                </a:gridCol>
                <a:gridCol w="908858">
                  <a:extLst>
                    <a:ext uri="{9D8B030D-6E8A-4147-A177-3AD203B41FA5}">
                      <a16:colId xmlns:a16="http://schemas.microsoft.com/office/drawing/2014/main" val="3307753238"/>
                    </a:ext>
                  </a:extLst>
                </a:gridCol>
                <a:gridCol w="908858">
                  <a:extLst>
                    <a:ext uri="{9D8B030D-6E8A-4147-A177-3AD203B41FA5}">
                      <a16:colId xmlns:a16="http://schemas.microsoft.com/office/drawing/2014/main" val="3032199107"/>
                    </a:ext>
                  </a:extLst>
                </a:gridCol>
                <a:gridCol w="908858">
                  <a:extLst>
                    <a:ext uri="{9D8B030D-6E8A-4147-A177-3AD203B41FA5}">
                      <a16:colId xmlns:a16="http://schemas.microsoft.com/office/drawing/2014/main" val="733748373"/>
                    </a:ext>
                  </a:extLst>
                </a:gridCol>
                <a:gridCol w="908858">
                  <a:extLst>
                    <a:ext uri="{9D8B030D-6E8A-4147-A177-3AD203B41FA5}">
                      <a16:colId xmlns:a16="http://schemas.microsoft.com/office/drawing/2014/main" val="1192723082"/>
                    </a:ext>
                  </a:extLst>
                </a:gridCol>
              </a:tblGrid>
              <a:tr h="605175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2316463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563451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5868168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766016"/>
                  </a:ext>
                </a:extLst>
              </a:tr>
              <a:tr h="6051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en-IN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599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229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6F15F-355A-478F-90F7-59DB87385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37309"/>
            <a:ext cx="9601200" cy="523009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TOP – DOWN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//Initialize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 array with -1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for(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=1 to m)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for(j=1 to n)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	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][j] =-1;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int SCS(string X, string Y, int m, int n, int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[m][n])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{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if(m==0) return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[m][0] = m;  	//Base Case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if(n==0) return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[0][n] = n;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if(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[m][n] != -1) return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[m][n];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if(X[m] == Y[n]) return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[m][n] = 1+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[m-1][n-1];		//Recursive Case.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else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 return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[m][n] = </a:t>
            </a:r>
            <a:r>
              <a:rPr lang="en-US" altLang="en-US" dirty="0">
                <a:latin typeface="Baskerville Old Face" panose="02020602080505020303" pitchFamily="18" charset="0"/>
              </a:rPr>
              <a:t>1 + min( SCS(X, Y, m-1, n), SCS(X, Y, m, n - 1) );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	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}</a:t>
            </a:r>
          </a:p>
          <a:p>
            <a:pPr marL="0" indent="0">
              <a:buNone/>
            </a:pPr>
            <a:endParaRPr lang="en-IN" sz="2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27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483E6-415C-415E-9DB0-1202CB3D4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80291"/>
            <a:ext cx="9601200" cy="606274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>
                <a:latin typeface="Baskerville Old Face" panose="02020602080505020303" pitchFamily="18" charset="0"/>
              </a:rPr>
              <a:t>BOTTOM - UP APPROACH</a:t>
            </a:r>
          </a:p>
          <a:p>
            <a:pPr marL="0" indent="0" algn="ctr">
              <a:buNone/>
            </a:pPr>
            <a:endParaRPr lang="en-US" sz="9600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int </a:t>
            </a:r>
            <a:r>
              <a:rPr lang="en-IN" sz="8000" dirty="0" err="1">
                <a:latin typeface="Baskerville Old Face" panose="02020602080505020303" pitchFamily="18" charset="0"/>
              </a:rPr>
              <a:t>superSeq</a:t>
            </a:r>
            <a:r>
              <a:rPr lang="en-IN" sz="8000" dirty="0">
                <a:latin typeface="Baskerville Old Face" panose="02020602080505020303" pitchFamily="18" charset="0"/>
              </a:rPr>
              <a:t>(char* X, char* Y, int m, int n)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int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[m + 1][n + 1];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// Fill table in bottom up manner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for (int 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 = 0; 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 &lt;= m; 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++)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for (int j = 0; j &lt;= n; </a:t>
            </a:r>
            <a:r>
              <a:rPr lang="en-IN" sz="8000" dirty="0" err="1">
                <a:latin typeface="Baskerville Old Face" panose="02020602080505020303" pitchFamily="18" charset="0"/>
              </a:rPr>
              <a:t>j++</a:t>
            </a:r>
            <a:r>
              <a:rPr lang="en-IN" sz="8000" dirty="0">
                <a:latin typeface="Baskerville Old Face" panose="02020602080505020303" pitchFamily="18" charset="0"/>
              </a:rPr>
              <a:t>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// Below steps follow above recurrence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if (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==0)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   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][j] = j;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else if (j==0)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   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][j] = 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else if (X[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 - 1] == Y[j - 1])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       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][j] = 1 +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 - 1][j - 1];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else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       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][j] = 1 + min(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 - 1][j],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                         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</a:t>
            </a:r>
            <a:r>
              <a:rPr lang="en-IN" sz="8000" dirty="0" err="1">
                <a:latin typeface="Baskerville Old Face" panose="02020602080505020303" pitchFamily="18" charset="0"/>
              </a:rPr>
              <a:t>i</a:t>
            </a:r>
            <a:r>
              <a:rPr lang="en-IN" sz="8000" dirty="0">
                <a:latin typeface="Baskerville Old Face" panose="02020602080505020303" pitchFamily="18" charset="0"/>
              </a:rPr>
              <a:t>][j - 1]);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 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    return </a:t>
            </a:r>
            <a:r>
              <a:rPr lang="en-IN" sz="8000" dirty="0" err="1">
                <a:latin typeface="Baskerville Old Face" panose="02020602080505020303" pitchFamily="18" charset="0"/>
              </a:rPr>
              <a:t>dp</a:t>
            </a:r>
            <a:r>
              <a:rPr lang="en-IN" sz="8000" dirty="0">
                <a:latin typeface="Baskerville Old Face" panose="02020602080505020303" pitchFamily="18" charset="0"/>
              </a:rPr>
              <a:t>[m][n];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 dirty="0">
                <a:latin typeface="Baskerville Old Face" panose="020206020805050203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1103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45E6A-4B37-4529-9E80-58ECE2853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00364"/>
            <a:ext cx="9601200" cy="5809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TIME COMPLEXITY FOR DYNAMIC PROGRAMMING: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	</a:t>
            </a:r>
            <a:r>
              <a:rPr lang="en-US" dirty="0">
                <a:latin typeface="Baskerville Old Face" panose="02020602080505020303" pitchFamily="18" charset="0"/>
              </a:rPr>
              <a:t>Time Complexity for both top-down and bottom-up case is comes out to be O(</a:t>
            </a:r>
            <a:r>
              <a:rPr lang="en-US" dirty="0" err="1">
                <a:latin typeface="Baskerville Old Face" panose="02020602080505020303" pitchFamily="18" charset="0"/>
              </a:rPr>
              <a:t>mn</a:t>
            </a:r>
            <a:r>
              <a:rPr lang="en-US" dirty="0">
                <a:latin typeface="Baskerville Old Face" panose="02020602080505020303" pitchFamily="18" charset="0"/>
              </a:rPr>
              <a:t>).</a:t>
            </a:r>
          </a:p>
          <a:p>
            <a:pPr mar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en-IN" sz="2800" dirty="0">
                <a:latin typeface="Baskerville Old Face" panose="02020602080505020303" pitchFamily="18" charset="0"/>
              </a:rPr>
              <a:t>T(n) = O(</a:t>
            </a:r>
            <a:r>
              <a:rPr lang="en-IN" sz="2800" dirty="0" err="1">
                <a:latin typeface="Baskerville Old Face" panose="02020602080505020303" pitchFamily="18" charset="0"/>
              </a:rPr>
              <a:t>mn</a:t>
            </a:r>
            <a:r>
              <a:rPr lang="en-IN" sz="2800" dirty="0">
                <a:latin typeface="Baskerville Old Face" panose="02020602080505020303" pitchFamily="18" charset="0"/>
              </a:rPr>
              <a:t>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0BF35E-894F-4B82-BF4A-46177673EB00}"/>
              </a:ext>
            </a:extLst>
          </p:cNvPr>
          <p:cNvSpPr/>
          <p:nvPr/>
        </p:nvSpPr>
        <p:spPr>
          <a:xfrm>
            <a:off x="4922982" y="1930400"/>
            <a:ext cx="2512291" cy="766618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25388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CEA3-2B08-4383-848D-DF1E06F7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26472"/>
            <a:ext cx="9601200" cy="5865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ANOTHER APPROACH USING LONGEST COMMON SUBSEQUENCE: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	</a:t>
            </a:r>
            <a:r>
              <a:rPr lang="en-US" dirty="0">
                <a:latin typeface="Baskerville Old Face" panose="02020602080505020303" pitchFamily="18" charset="0"/>
              </a:rPr>
              <a:t>Shortest common super sequence can also be found with the help of longest common subsequence. By using formula given below:</a:t>
            </a:r>
          </a:p>
          <a:p>
            <a:pPr marL="0" indent="0" algn="ctr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Length of the shortest super sequence = (Sum of lengths of given two strings) –</a:t>
            </a:r>
          </a:p>
          <a:p>
            <a:pPr marL="0" indent="0" algn="ctr">
              <a:buNone/>
            </a:pPr>
            <a:r>
              <a:rPr lang="en-US" altLang="en-US" dirty="0">
                <a:latin typeface="Baskerville Old Face" panose="02020602080505020303" pitchFamily="18" charset="0"/>
              </a:rPr>
              <a:t>				(Length of LCS of two given strings) </a:t>
            </a:r>
            <a:br>
              <a:rPr lang="en-US" altLang="en-US" dirty="0">
                <a:latin typeface="Baskerville Old Face" panose="02020602080505020303" pitchFamily="18" charset="0"/>
              </a:rPr>
            </a:br>
            <a:endParaRPr lang="en-US" altLang="en-US" dirty="0">
              <a:latin typeface="Baskerville Old Face" panose="020206020805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Example for above idea is: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	</a:t>
            </a:r>
            <a:r>
              <a:rPr lang="en-US" dirty="0">
                <a:latin typeface="Baskerville Old Face" panose="02020602080505020303" pitchFamily="18" charset="0"/>
              </a:rPr>
              <a:t>Let us consider another example, str1 = “AGGTAB” and str2 = “GXTXAYB”.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 LCS of str1 and str2 is “GTAB”. 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And Shortest  Common Super sequence is “AGXGTXAYB”.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 Now,  length of str1 =  6 , length of str2 = 7 and length of </a:t>
            </a:r>
            <a:r>
              <a:rPr lang="en-US" dirty="0" err="1">
                <a:latin typeface="Baskerville Old Face" panose="02020602080505020303" pitchFamily="18" charset="0"/>
              </a:rPr>
              <a:t>lcs</a:t>
            </a:r>
            <a:r>
              <a:rPr lang="en-US" dirty="0">
                <a:latin typeface="Baskerville Old Face" panose="02020602080505020303" pitchFamily="18" charset="0"/>
              </a:rPr>
              <a:t> = 4.</a:t>
            </a:r>
          </a:p>
          <a:p>
            <a:pPr marL="0" indent="0">
              <a:buNone/>
            </a:pPr>
            <a:r>
              <a:rPr lang="en-US" dirty="0">
                <a:latin typeface="Baskerville Old Face" panose="02020602080505020303" pitchFamily="18" charset="0"/>
              </a:rPr>
              <a:t>Then  length of super sequence = 6 + 7 - 4 = 9.</a:t>
            </a:r>
            <a:endParaRPr lang="en-IN" dirty="0">
              <a:latin typeface="Baskerville Old Face" panose="02020602080505020303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2EA5DB-4CD3-483C-8F9A-38AE897B1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DD78A6-EC57-4756-BBC3-78868D0E6185}"/>
              </a:ext>
            </a:extLst>
          </p:cNvPr>
          <p:cNvSpPr/>
          <p:nvPr/>
        </p:nvSpPr>
        <p:spPr>
          <a:xfrm>
            <a:off x="2068945" y="2096655"/>
            <a:ext cx="8155710" cy="100676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584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3095A-A26A-4C10-9755-8C9DC5CCD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43345"/>
            <a:ext cx="9601200" cy="5781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IMPLEMENTATION OF ABOVE APPROACH IS AS FOLLOWS: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Consider that </a:t>
            </a:r>
            <a:r>
              <a:rPr lang="en-US" sz="2400" dirty="0" err="1">
                <a:latin typeface="Baskerville Old Face" panose="02020602080505020303" pitchFamily="18" charset="0"/>
              </a:rPr>
              <a:t>lcs</a:t>
            </a:r>
            <a:r>
              <a:rPr lang="en-US" sz="2400" dirty="0">
                <a:latin typeface="Baskerville Old Face" panose="02020602080505020303" pitchFamily="18" charset="0"/>
              </a:rPr>
              <a:t> can be calculated by any of the known method.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int </a:t>
            </a:r>
            <a:r>
              <a:rPr lang="en-US" sz="2400" dirty="0" err="1">
                <a:latin typeface="Baskerville Old Face" panose="02020602080505020303" pitchFamily="18" charset="0"/>
              </a:rPr>
              <a:t>shortestSuperSequence</a:t>
            </a:r>
            <a:r>
              <a:rPr lang="en-US" sz="2400" dirty="0">
                <a:latin typeface="Baskerville Old Face" panose="02020602080505020303" pitchFamily="18" charset="0"/>
              </a:rPr>
              <a:t>(char *X, char *Y)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{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int m = </a:t>
            </a:r>
            <a:r>
              <a:rPr lang="en-US" sz="2400" dirty="0" err="1">
                <a:latin typeface="Baskerville Old Face" panose="02020602080505020303" pitchFamily="18" charset="0"/>
              </a:rPr>
              <a:t>strlen</a:t>
            </a:r>
            <a:r>
              <a:rPr lang="en-US" sz="2400" dirty="0">
                <a:latin typeface="Baskerville Old Face" panose="02020602080505020303" pitchFamily="18" charset="0"/>
              </a:rPr>
              <a:t>(X), n = </a:t>
            </a:r>
            <a:r>
              <a:rPr lang="en-US" sz="2400" dirty="0" err="1">
                <a:latin typeface="Baskerville Old Face" panose="02020602080505020303" pitchFamily="18" charset="0"/>
              </a:rPr>
              <a:t>strlen</a:t>
            </a:r>
            <a:r>
              <a:rPr lang="en-US" sz="2400" dirty="0">
                <a:latin typeface="Baskerville Old Face" panose="02020602080505020303" pitchFamily="18" charset="0"/>
              </a:rPr>
              <a:t>(Y);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// find </a:t>
            </a:r>
            <a:r>
              <a:rPr lang="en-US" sz="2400" dirty="0" err="1">
                <a:latin typeface="Baskerville Old Face" panose="02020602080505020303" pitchFamily="18" charset="0"/>
              </a:rPr>
              <a:t>lcs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int l = </a:t>
            </a:r>
            <a:r>
              <a:rPr lang="en-US" sz="2400" dirty="0" err="1">
                <a:latin typeface="Baskerville Old Face" panose="02020602080505020303" pitchFamily="18" charset="0"/>
              </a:rPr>
              <a:t>lcs</a:t>
            </a:r>
            <a:r>
              <a:rPr lang="en-US" sz="2400" dirty="0">
                <a:latin typeface="Baskerville Old Face" panose="02020602080505020303" pitchFamily="18" charset="0"/>
              </a:rPr>
              <a:t>(X, Y, m, n);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// Result is sum of input string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// lengths - length of </a:t>
            </a:r>
            <a:r>
              <a:rPr lang="en-US" sz="2400" dirty="0" err="1">
                <a:latin typeface="Baskerville Old Face" panose="02020602080505020303" pitchFamily="18" charset="0"/>
              </a:rPr>
              <a:t>lcs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    return (m + n - l); </a:t>
            </a:r>
          </a:p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} 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228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BE44D-E4BE-4742-B006-2B72F772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709"/>
            <a:ext cx="9601200" cy="626687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dirty="0">
                <a:latin typeface="Baskerville Old Face" panose="02020602080505020303" pitchFamily="18" charset="0"/>
              </a:rPr>
              <a:t>PRINTING THE SOLUTION FOR SHORTEST COMMON SUPERSEQUENCE:</a:t>
            </a:r>
          </a:p>
          <a:p>
            <a:pPr marL="0" indent="0">
              <a:buNone/>
            </a:pPr>
            <a:endParaRPr lang="en-US" sz="9600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int index = </a:t>
            </a:r>
            <a:r>
              <a:rPr lang="en-US" sz="8000" dirty="0" err="1">
                <a:latin typeface="Baskerville Old Face" panose="02020602080505020303" pitchFamily="18" charset="0"/>
              </a:rPr>
              <a:t>dp</a:t>
            </a:r>
            <a:r>
              <a:rPr lang="en-US" sz="8000" dirty="0">
                <a:latin typeface="Baskerville Old Face" panose="02020602080505020303" pitchFamily="18" charset="0"/>
              </a:rPr>
              <a:t>[m][n];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// Create a string of size index+1 to store the result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string res(index+1, '\0');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// Start from the right-most-bottom-most corner and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// one by one store characters in res[]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int </a:t>
            </a:r>
            <a:r>
              <a:rPr lang="en-US" sz="8000" dirty="0" err="1">
                <a:latin typeface="Baskerville Old Face" panose="02020602080505020303" pitchFamily="18" charset="0"/>
              </a:rPr>
              <a:t>i</a:t>
            </a:r>
            <a:r>
              <a:rPr lang="en-US" sz="8000" dirty="0">
                <a:latin typeface="Baskerville Old Face" panose="02020602080505020303" pitchFamily="18" charset="0"/>
              </a:rPr>
              <a:t> = m, j = n;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while (</a:t>
            </a:r>
            <a:r>
              <a:rPr lang="en-US" sz="8000" dirty="0" err="1">
                <a:latin typeface="Baskerville Old Face" panose="02020602080505020303" pitchFamily="18" charset="0"/>
              </a:rPr>
              <a:t>i</a:t>
            </a:r>
            <a:r>
              <a:rPr lang="en-US" sz="8000" dirty="0">
                <a:latin typeface="Baskerville Old Face" panose="02020602080505020303" pitchFamily="18" charset="0"/>
              </a:rPr>
              <a:t> &gt; 0 &amp;&amp; j &gt; 0)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// If current character in a[] and b are same,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// then current character is part of LCS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if (a[i-1] == b[j-1])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  // Put current character in result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 res[index-1] = a[i-1];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  // reduce values of </a:t>
            </a:r>
            <a:r>
              <a:rPr lang="en-US" sz="8000" dirty="0" err="1">
                <a:latin typeface="Baskerville Old Face" panose="02020602080505020303" pitchFamily="18" charset="0"/>
              </a:rPr>
              <a:t>i</a:t>
            </a:r>
            <a:r>
              <a:rPr lang="en-US" sz="8000" dirty="0">
                <a:latin typeface="Baskerville Old Face" panose="02020602080505020303" pitchFamily="18" charset="0"/>
              </a:rPr>
              <a:t>, j and </a:t>
            </a:r>
            <a:r>
              <a:rPr lang="en-US" sz="8000" dirty="0" err="1">
                <a:latin typeface="Baskerville Old Face" panose="02020602080505020303" pitchFamily="18" charset="0"/>
              </a:rPr>
              <a:t>indexs</a:t>
            </a:r>
            <a:r>
              <a:rPr lang="en-US" sz="8000" dirty="0">
                <a:latin typeface="Baskerville Old Face" panose="02020602080505020303" pitchFamily="18" charset="0"/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   </a:t>
            </a:r>
            <a:r>
              <a:rPr lang="en-US" sz="8000" dirty="0" err="1">
                <a:latin typeface="Baskerville Old Face" panose="02020602080505020303" pitchFamily="18" charset="0"/>
              </a:rPr>
              <a:t>i</a:t>
            </a:r>
            <a:r>
              <a:rPr lang="en-US" sz="8000" dirty="0">
                <a:latin typeface="Baskerville Old Face" panose="02020602080505020303" pitchFamily="18" charset="0"/>
              </a:rPr>
              <a:t>--; j--; index--;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									P.T.O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latin typeface="Baskerville Old Face" panose="02020602080505020303" pitchFamily="18" charset="0"/>
              </a:rPr>
              <a:t>      </a:t>
            </a:r>
            <a:endParaRPr lang="en-IN" sz="80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88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79A9F-A1CC-4AC6-B5F3-80CC0494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92727"/>
            <a:ext cx="9601200" cy="517467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// If not same, then find the larger of two and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// go in the direction of larger value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else if (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[i-1][j] &lt; </a:t>
            </a:r>
            <a:r>
              <a:rPr lang="en-US" dirty="0" err="1">
                <a:latin typeface="Baskerville Old Face" panose="02020602080505020303" pitchFamily="18" charset="0"/>
              </a:rPr>
              <a:t>dp</a:t>
            </a:r>
            <a:r>
              <a:rPr lang="en-US" dirty="0">
                <a:latin typeface="Baskerville Old Face" panose="02020602080505020303" pitchFamily="18" charset="0"/>
              </a:rPr>
              <a:t>[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][j-1])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{ res[index-1] = a[i-1];  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--;  index--;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Baskerville Old Face" panose="02020602080505020303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else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{ res[index-1] = b[j-1];  j--; index--;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// Copy remaining characters of string 'a'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while (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 &gt; 0)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 res[index-1] = a[i-1];  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--;  index--;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// Copy remaining characters of string 'b'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while (j &gt; 0)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{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    res[index-1] = b[j-1];  j--; index--;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// Print the result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skerville Old Face" panose="02020602080505020303" pitchFamily="18" charset="0"/>
              </a:rPr>
              <a:t>   </a:t>
            </a:r>
            <a:r>
              <a:rPr lang="en-US" dirty="0" err="1">
                <a:latin typeface="Baskerville Old Face" panose="02020602080505020303" pitchFamily="18" charset="0"/>
              </a:rPr>
              <a:t>cout</a:t>
            </a:r>
            <a:r>
              <a:rPr lang="en-US" dirty="0">
                <a:latin typeface="Baskerville Old Face" panose="02020602080505020303" pitchFamily="18" charset="0"/>
              </a:rPr>
              <a:t> &lt;&lt; res;</a:t>
            </a:r>
            <a:endParaRPr lang="en-IN" dirty="0">
              <a:latin typeface="Baskerville Old Face" panose="020206020805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54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136E7-2A34-4E0D-BBC4-C53A59F9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23636"/>
            <a:ext cx="9601200" cy="49437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THANK YOU</a:t>
            </a:r>
            <a:endParaRPr lang="en-IN" sz="24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3996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263</TotalTime>
  <Words>1629</Words>
  <Application>Microsoft Office PowerPoint</Application>
  <PresentationFormat>Widescreen</PresentationFormat>
  <Paragraphs>199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Baskerville Old Face</vt:lpstr>
      <vt:lpstr>Franklin Gothic Book</vt:lpstr>
      <vt:lpstr>Crop</vt:lpstr>
      <vt:lpstr>SHORTEST COMMON  SUPERSEQUENCE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SHORTEST COMMON  SUPERSEQUENCE</dc:title>
  <dc:creator>Tanvi</dc:creator>
  <cp:lastModifiedBy>Tanvi</cp:lastModifiedBy>
  <cp:revision>28</cp:revision>
  <dcterms:created xsi:type="dcterms:W3CDTF">2020-03-28T09:36:35Z</dcterms:created>
  <dcterms:modified xsi:type="dcterms:W3CDTF">2020-03-28T14:00:43Z</dcterms:modified>
</cp:coreProperties>
</file>